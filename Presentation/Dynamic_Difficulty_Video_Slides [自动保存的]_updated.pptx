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8" r:id="rId18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7" autoAdjust="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57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84175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Dunjun: Procedural Dungeons with In-Run Dynamic Difficulty</a:t>
            </a:r>
            <a:endParaRPr sz="36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10515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A8B0B8"/>
                </a:solidFill>
                <a:latin typeface="Calibri"/>
              </a:rPr>
              <a:t>Final-Year Project</a:t>
            </a:r>
          </a:p>
          <a:p>
            <a:endParaRPr sz="1800" b="0" dirty="0">
              <a:solidFill>
                <a:srgbClr val="A8B0B8"/>
              </a:solidFill>
              <a:latin typeface="Calibri"/>
            </a:endParaRP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A8B0B8"/>
                </a:solidFill>
                <a:latin typeface="Calibri"/>
              </a:rPr>
              <a:t>YOU SHAOPENG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F2F0EA"/>
                </a:solidFill>
                <a:latin typeface="Calibri"/>
              </a:rPr>
              <a:t>1. Problem</a:t>
            </a:r>
          </a:p>
          <a:p>
            <a:pPr>
              <a:spcAft>
                <a:spcPts val="1000"/>
              </a:spcAft>
            </a:pPr>
          </a:p>
          <a:p>
            <a:pPr>
              <a:spcAft>
                <a:spcPts val="1000"/>
              </a:spcAft>
            </a:pPr>
          </a:p>
          <a:p>
            <a:pPr>
              <a:spcAft>
                <a:spcPts val="1000"/>
              </a:spcAft>
            </a:pP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F2F0EA"/>
                </a:solidFill>
                <a:latin typeface="Calibri"/>
              </a:rPr>
              <a:t>2. The game (PCG + progression)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F2F0EA"/>
                </a:solidFill>
                <a:latin typeface="Calibri"/>
              </a:rPr>
              <a:t>3. Dynamic difficulty design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F2F0EA"/>
                </a:solidFill>
                <a:latin typeface="Calibri"/>
              </a:rPr>
              <a:t>4. Demo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F2F0EA"/>
                </a:solidFill>
                <a:latin typeface="Calibri"/>
              </a:rPr>
              <a:t>5. Results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A8B0B8"/>
                </a:solidFill>
                <a:latin typeface="Calibri"/>
              </a:rPr>
              <a:t>Start difficulty does not track in-run struggle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F2F0EA"/>
                </a:solidFill>
                <a:latin typeface="Calibri"/>
              </a:rPr>
              <a:t>• Start difficulty stays fixed for the whole run</a:t>
            </a:r>
          </a:p>
          <a:p>
            <a:pPr>
              <a:spcAft>
                <a:spcPts val="1000"/>
              </a:spcAft>
            </a:pPr>
          </a:p>
          <a:p>
            <a:pPr>
              <a:spcAft>
                <a:spcPts val="1000"/>
              </a:spcAft>
            </a:pPr>
          </a:p>
          <a:p>
            <a:pPr>
              <a:spcAft>
                <a:spcPts val="1000"/>
              </a:spcAft>
            </a:pPr>
          </a:p>
          <a:p>
            <a:pPr>
              <a:spcAft>
                <a:spcPts val="1000"/>
              </a:spcAft>
            </a:pP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2F0EA"/>
                </a:solidFill>
                <a:latin typeface="Calibri"/>
              </a:rPr>
              <a:t>• In-run struggle ignored (HP / heals / early damage)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2F0EA"/>
                </a:solidFill>
                <a:latin typeface="Calibri"/>
              </a:rPr>
              <a:t>• Fixed drops &amp; spikes → harsh or luck-heavy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2F0EA"/>
                </a:solidFill>
                <a:latin typeface="Calibri"/>
              </a:rPr>
              <a:t>• Hidden reward boosts hard to explain or test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Goal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10972800" cy="3291840"/>
          </a:xfrm>
          <a:prstGeom prst="roundRect">
            <a:avLst/>
          </a:prstGeom>
          <a:solidFill>
            <a:srgbClr val="1E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810512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D4A34A"/>
                </a:solidFill>
                <a:latin typeface="Calibri"/>
              </a:rPr>
              <a:t>What I 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240280"/>
            <a:ext cx="1060704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F2F0EA"/>
                </a:solidFill>
                <a:latin typeface="Calibri"/>
              </a:rPr>
              <a:t>In-run dynamic difficulty — explainable rules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endParaRPr sz="1800" b="0">
              <a:solidFill>
                <a:srgbClr val="F2F0EA"/>
              </a:solidFill>
              <a:latin typeface="Calibri"/>
            </a:endParaRP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2F0EA"/>
                </a:solidFill>
                <a:latin typeface="Calibri"/>
              </a:rPr>
              <a:t/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2F0EA"/>
                </a:solidFill>
                <a:latin typeface="Calibri"/>
              </a:rPr>
              <a:t>• Restrained intervention + cooldown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2F0EA"/>
                </a:solidFill>
                <a:latin typeface="Calibri"/>
              </a:rPr>
              <a:t>• No loot jackpot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2F0EA"/>
                </a:solidFill>
                <a:latin typeface="Calibri"/>
              </a:rPr>
              <a:t>• ON / OFF for comparison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Method — 3 Parts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3566160" cy="4206240"/>
          </a:xfrm>
          <a:prstGeom prst="roundRect">
            <a:avLst/>
          </a:prstGeom>
          <a:solidFill>
            <a:srgbClr val="1E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62763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D4A34A"/>
                </a:solidFill>
                <a:latin typeface="Calibri"/>
              </a:rPr>
              <a:t>1. Starting 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320040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F2F0EA"/>
                </a:solidFill>
                <a:latin typeface="Calibri"/>
              </a:rPr>
              <a:t>Easy / Medium / Hard</a:t>
            </a:r>
          </a:p>
          <a:p>
            <a:pPr>
              <a:spcAft>
                <a:spcPts val="600"/>
              </a:spcAft>
            </a:pPr>
            <a:endParaRPr sz="1500" b="0">
              <a:solidFill>
                <a:srgbClr val="F2F0EA"/>
              </a:solidFill>
              <a:latin typeface="Calibri"/>
            </a:endParaRP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endParaRPr sz="1500" b="0">
              <a:solidFill>
                <a:srgbClr val="F2F0EA"/>
              </a:solidFill>
              <a:latin typeface="Calibri"/>
            </a:endParaRP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F2F0EA"/>
                </a:solidFill>
                <a:latin typeface="Calibri"/>
              </a:rPr>
              <a:t/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F2F0EA"/>
                </a:solidFill>
                <a:latin typeface="Calibri"/>
              </a:rPr>
              <a:t>Controls how much aid is allowed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F2F0EA"/>
                </a:solidFill>
                <a:latin typeface="Calibri"/>
              </a:rPr>
              <a:t/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F2F0EA"/>
                </a:solidFill>
                <a:latin typeface="Calibri"/>
              </a:rPr>
              <a:t>Easy → more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F2F0EA"/>
                </a:solidFill>
                <a:latin typeface="Calibri"/>
              </a:rPr>
              <a:t>Hard → almost none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63040"/>
            <a:ext cx="3566160" cy="4206240"/>
          </a:xfrm>
          <a:prstGeom prst="roundRect">
            <a:avLst/>
          </a:prstGeom>
          <a:solidFill>
            <a:srgbClr val="1E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60" y="162763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D4A34A"/>
                </a:solidFill>
                <a:latin typeface="Calibri"/>
              </a:rPr>
              <a:t>2. Distress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057400"/>
            <a:ext cx="320040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F2F0EA"/>
                </a:solidFill>
                <a:latin typeface="Calibri"/>
              </a:rPr>
              <a:t>Not only “1 HP”</a:t>
            </a:r>
          </a:p>
          <a:p>
            <a:pPr>
              <a:spcAft>
                <a:spcPts val="600"/>
              </a:spcAft>
            </a:pPr>
            <a:endParaRPr sz="1500" b="0">
              <a:solidFill>
                <a:srgbClr val="F2F0EA"/>
              </a:solidFill>
              <a:latin typeface="Calibri"/>
            </a:endParaRP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endParaRPr sz="1500" b="0">
              <a:solidFill>
                <a:srgbClr val="F2F0EA"/>
              </a:solidFill>
              <a:latin typeface="Calibri"/>
            </a:endParaRP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F2F0EA"/>
                </a:solidFill>
                <a:latin typeface="Calibri"/>
              </a:rPr>
              <a:t/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F2F0EA"/>
                </a:solidFill>
                <a:latin typeface="Calibri"/>
              </a:rPr>
              <a:t>Multi-signal → 0–1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F2F0EA"/>
                </a:solidFill>
                <a:latin typeface="Calibri"/>
              </a:rPr>
              <a:t/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F2F0EA"/>
                </a:solidFill>
                <a:latin typeface="Calibri"/>
              </a:rPr>
              <a:t>Decides when to 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463040"/>
            <a:ext cx="3566160" cy="4206240"/>
          </a:xfrm>
          <a:prstGeom prst="roundRect">
            <a:avLst/>
          </a:prstGeom>
          <a:solidFill>
            <a:srgbClr val="1E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19" y="162763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D4A34A"/>
                </a:solidFill>
                <a:latin typeface="Calibri"/>
              </a:rPr>
              <a:t>3. Game changes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19" y="2057400"/>
            <a:ext cx="320040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F2F0EA"/>
                </a:solidFill>
                <a:latin typeface="Calibri"/>
              </a:rPr>
              <a:t>When high + not on cooldown: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endParaRPr sz="1500" b="0">
              <a:solidFill>
                <a:srgbClr val="F2F0EA"/>
              </a:solidFill>
              <a:latin typeface="Calibri"/>
            </a:endParaRP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F2F0EA"/>
                </a:solidFill>
                <a:latin typeface="Calibri"/>
              </a:rPr>
              <a:t/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F2F0EA"/>
                </a:solidFill>
                <a:latin typeface="Calibri"/>
              </a:rPr>
              <a:t>• potions ↑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F2F0EA"/>
                </a:solidFill>
                <a:latin typeface="Calibri"/>
              </a:rPr>
              <a:t>• spikes milder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F2F0EA"/>
                </a:solidFill>
                <a:latin typeface="Calibri"/>
              </a:rPr>
              <a:t>• lethal → 1 HP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Distress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A8B0B8"/>
                </a:solidFill>
                <a:latin typeface="Calibri"/>
              </a:rPr>
              <a:t>Several signals → one distress value (0–1)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5394960" cy="1828800"/>
          </a:xfrm>
          <a:prstGeom prst="roundRect">
            <a:avLst/>
          </a:prstGeom>
          <a:solidFill>
            <a:srgbClr val="1E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D4A34A"/>
                </a:solidFill>
                <a:latin typeface="Calibri"/>
              </a:rPr>
              <a:t>Health ratio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48840"/>
            <a:ext cx="5029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2F0EA"/>
                </a:solidFill>
                <a:latin typeface="Calibri"/>
              </a:rPr>
              <a:t>Current HP / max HP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554480"/>
            <a:ext cx="5394960" cy="1828800"/>
          </a:xfrm>
          <a:prstGeom prst="roundRect">
            <a:avLst/>
          </a:prstGeom>
          <a:solidFill>
            <a:srgbClr val="1E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0" y="171907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D4A34A"/>
                </a:solidFill>
                <a:latin typeface="Calibri"/>
              </a:rPr>
              <a:t>Room damage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148840"/>
            <a:ext cx="5029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2F0EA"/>
                </a:solidFill>
                <a:latin typeface="Calibri"/>
              </a:rPr>
              <a:t>Damage in room / depth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657600"/>
            <a:ext cx="5394960" cy="1828800"/>
          </a:xfrm>
          <a:prstGeom prst="roundRect">
            <a:avLst/>
          </a:prstGeom>
          <a:solidFill>
            <a:srgbClr val="1E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3822191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D4A34A"/>
                </a:solidFill>
                <a:latin typeface="Calibri"/>
              </a:rPr>
              <a:t>No-heal streak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251960"/>
            <a:ext cx="5029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2F0EA"/>
                </a:solidFill>
                <a:latin typeface="Calibri"/>
              </a:rPr>
              <a:t>Rooms without healing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657600"/>
            <a:ext cx="5394960" cy="1828800"/>
          </a:xfrm>
          <a:prstGeom prst="roundRect">
            <a:avLst/>
          </a:prstGeom>
          <a:solidFill>
            <a:srgbClr val="1E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3822191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D4A34A"/>
                </a:solidFill>
                <a:latin typeface="Calibri"/>
              </a:rPr>
              <a:t>Near-death events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251960"/>
            <a:ext cx="5029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2F0EA"/>
                </a:solidFill>
                <a:latin typeface="Calibri"/>
              </a:rPr>
              <a:t>Near-death count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What Changes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5486400" cy="4389120"/>
          </a:xfrm>
          <a:prstGeom prst="roundRect">
            <a:avLst/>
          </a:prstGeom>
          <a:solidFill>
            <a:srgbClr val="1E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62763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D4A34A"/>
                </a:solidFill>
                <a:latin typeface="Calibri"/>
              </a:rPr>
              <a:t>Adjusts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512064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F2F0EA"/>
                </a:solidFill>
                <a:latin typeface="Calibri"/>
              </a:rPr>
              <a:t>• Potion chance ↑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endParaRPr sz="1700" b="0">
              <a:solidFill>
                <a:srgbClr val="F2F0EA"/>
              </a:solidFill>
              <a:latin typeface="Calibri"/>
            </a:endParaRP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2F0EA"/>
                </a:solidFill>
                <a:latin typeface="Calibri"/>
              </a:rPr>
              <a:t>• Spike pressure ↓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2F0EA"/>
                </a:solidFill>
                <a:latin typeface="Calibri"/>
              </a:rPr>
              <a:t>• Easier layouts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2F0EA"/>
                </a:solidFill>
                <a:latin typeface="Calibri"/>
              </a:rPr>
              <a:t>• Lethal → 1 HP (rare)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2F0EA"/>
                </a:solidFill>
                <a:latin typeface="Calibri"/>
              </a:rPr>
              <a:t>• Cooldown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63040"/>
            <a:ext cx="5394960" cy="4389120"/>
          </a:xfrm>
          <a:prstGeom prst="roundRect">
            <a:avLst/>
          </a:prstGeom>
          <a:solidFill>
            <a:srgbClr val="1E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62763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D4A34A"/>
                </a:solidFill>
                <a:latin typeface="Calibri"/>
              </a:rPr>
              <a:t>Does not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57400"/>
            <a:ext cx="502920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F2F0EA"/>
                </a:solidFill>
                <a:latin typeface="Calibri"/>
              </a:rPr>
              <a:t>• Heavy gold boost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endParaRPr sz="1700" b="0">
              <a:solidFill>
                <a:srgbClr val="F2F0EA"/>
              </a:solidFill>
              <a:latin typeface="Calibri"/>
            </a:endParaRP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2F0EA"/>
                </a:solidFill>
                <a:latin typeface="Calibri"/>
              </a:rPr>
              <a:t>• Relic jackpot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2F0EA"/>
                </a:solidFill>
                <a:latin typeface="Calibri"/>
              </a:rPr>
              <a:t>• Flip the whole run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Playtest Switch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A8B0B8"/>
                </a:solidFill>
                <a:latin typeface="Calibri"/>
              </a:rPr>
              <a:t>Same game, one comparison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45920"/>
            <a:ext cx="5394960" cy="3840480"/>
          </a:xfrm>
          <a:prstGeom prst="roundRect">
            <a:avLst/>
          </a:prstGeom>
          <a:solidFill>
            <a:srgbClr val="1E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81051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D4A34A"/>
                </a:solidFill>
                <a:latin typeface="Calibri"/>
              </a:rPr>
              <a:t>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F2F0EA"/>
                </a:solidFill>
                <a:latin typeface="Calibri"/>
              </a:rPr>
              <a:t>System active</a:t>
            </a:r>
          </a:p>
          <a:p>
            <a:pPr>
              <a:spcAft>
                <a:spcPts val="600"/>
              </a:spcAft>
            </a:pPr>
            <a:endParaRPr sz="1800" b="0">
              <a:solidFill>
                <a:srgbClr val="F2F0EA"/>
              </a:solidFill>
              <a:latin typeface="Calibri"/>
            </a:endParaRP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endParaRPr sz="1800" b="0">
              <a:solidFill>
                <a:srgbClr val="F2F0EA"/>
              </a:solidFill>
              <a:latin typeface="Calibri"/>
            </a:endParaRPr>
          </a:p>
          <a:p>
            <a:pPr>
              <a:spcAft>
                <a:spcPts val="600"/>
              </a:spcAft>
            </a:pP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2F0EA"/>
                </a:solidFill>
                <a:latin typeface="Calibri"/>
              </a:rPr>
              <a:t>→ experiment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45920"/>
            <a:ext cx="5394960" cy="3840480"/>
          </a:xfrm>
          <a:prstGeom prst="roundRect">
            <a:avLst/>
          </a:prstGeom>
          <a:solidFill>
            <a:srgbClr val="1E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81051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D4A34A"/>
                </a:solidFill>
                <a:latin typeface="Calibri"/>
              </a:rPr>
              <a:t>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24028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F2F0EA"/>
                </a:solidFill>
                <a:latin typeface="Calibri"/>
              </a:rPr>
              <a:t>System off</a:t>
            </a:r>
          </a:p>
          <a:p>
            <a:pPr>
              <a:spcAft>
                <a:spcPts val="600"/>
              </a:spcAft>
            </a:pPr>
            <a:endParaRPr sz="1800" b="0">
              <a:solidFill>
                <a:srgbClr val="F2F0EA"/>
              </a:solidFill>
              <a:latin typeface="Calibri"/>
            </a:endParaRP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endParaRPr sz="1800" b="0">
              <a:solidFill>
                <a:srgbClr val="F2F0EA"/>
              </a:solidFill>
              <a:latin typeface="Calibri"/>
            </a:endParaRPr>
          </a:p>
          <a:p>
            <a:pPr>
              <a:spcAft>
                <a:spcPts val="600"/>
              </a:spcAft>
            </a:pP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2F0EA"/>
                </a:solidFill>
                <a:latin typeface="Calibri"/>
              </a:rPr>
              <a:t>→ control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A8B0B8"/>
                </a:solidFill>
                <a:latin typeface="Calibri"/>
              </a:rPr>
              <a:t>ON (Easy) → short OFF control</a:t>
            </a:r>
          </a:p>
          <a:p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A8B0B8"/>
                </a:solidFill>
                <a:latin typeface="Calibri"/>
              </a:rPr>
              <a:t>Small playtest — exploratory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5486400" cy="4389120"/>
          </a:xfrm>
          <a:prstGeom prst="roundRect">
            <a:avLst/>
          </a:prstGeom>
          <a:solidFill>
            <a:srgbClr val="1E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D4A34A"/>
                </a:solidFill>
                <a:latin typeface="Calibri"/>
              </a:rPr>
              <a:t>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512064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F2F0EA"/>
                </a:solidFill>
                <a:latin typeface="Calibri"/>
              </a:rPr>
              <a:t>• Integrated + toggle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2F0EA"/>
                </a:solidFill>
                <a:latin typeface="Calibri"/>
              </a:rPr>
              <a:t>• More survivability aid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2F0EA"/>
                </a:solidFill>
                <a:latin typeface="Calibri"/>
              </a:rPr>
              <a:t>• Milder spikes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2F0EA"/>
                </a:solidFill>
                <a:latin typeface="Calibri"/>
              </a:rPr>
              <a:t>• Demo-ready prototype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394960" cy="4389120"/>
          </a:xfrm>
          <a:prstGeom prst="roundRect">
            <a:avLst/>
          </a:prstGeom>
          <a:solidFill>
            <a:srgbClr val="1E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62763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D4A34A"/>
                </a:solidFill>
                <a:latin typeface="Calibri"/>
              </a:rPr>
              <a:t>Limits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057400"/>
            <a:ext cx="502920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F2F0EA"/>
                </a:solidFill>
                <a:latin typeface="Calibri"/>
              </a:rPr>
              <a:t>• Small sample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2F0EA"/>
                </a:solidFill>
                <a:latin typeface="Calibri"/>
              </a:rPr>
              <a:t>• Modest gain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2F0EA"/>
                </a:solidFill>
                <a:latin typeface="Calibri"/>
              </a:rPr>
              <a:t>• Light tuning only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2F0EA"/>
                </a:solidFill>
                <a:latin typeface="Calibri"/>
              </a:rPr>
              <a:t>• No HP-only ablation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2F0EA"/>
                </a:solidFill>
                <a:latin typeface="Calibri"/>
              </a:rPr>
              <a:t>• High run variance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F2F0EA"/>
                </a:solidFill>
                <a:latin typeface="Calibri"/>
              </a:rPr>
              <a:t>• Start difficulty ≠ in-run struggle</a:t>
            </a:r>
          </a:p>
          <a:p>
            <a:pPr>
              <a:spcAft>
                <a:spcPts val="1000"/>
              </a:spcAft>
            </a:pPr>
          </a:p>
          <a:p>
            <a:pPr>
              <a:spcAft>
                <a:spcPts val="1000"/>
              </a:spcAft>
            </a:pPr>
          </a:p>
          <a:p>
            <a:pPr>
              <a:spcAft>
                <a:spcPts val="1000"/>
              </a:spcAft>
            </a:pPr>
          </a:p>
          <a:p>
            <a:pPr>
              <a:spcAft>
                <a:spcPts val="1000"/>
              </a:spcAft>
            </a:pP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2F0EA"/>
                </a:solidFill>
                <a:latin typeface="Calibri"/>
              </a:rPr>
              <a:t>• PCG dungeon + restrained dynamic difficulty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2F0EA"/>
                </a:solidFill>
                <a:latin typeface="Calibri"/>
              </a:rPr>
              <a:t>• End-to-end, modest gains for now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2F0EA"/>
                </a:solidFill>
                <a:latin typeface="Calibri"/>
              </a:rPr>
              <a:t>• Next: larger playtest, finer tuning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The Game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PCG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2F0EA"/>
                </a:solidFill>
                <a:latin typeface="Calibri"/>
              </a:rPr>
              <a:t>• Random-walk rooms · walls / doors from neighbours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2F0EA"/>
                </a:solidFill>
                <a:latin typeface="Calibri"/>
              </a:rPr>
              <a:t>• Start / shop / boss by rules · enemies by depth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2F0EA"/>
                </a:solidFill>
                <a:latin typeface="Calibri"/>
              </a:rPr>
              <a:t>• Spike chance &amp; shape scale with progress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2F0E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Progression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2F0EA"/>
                </a:solidFill>
                <a:latin typeface="Calibri"/>
              </a:rPr>
              <a:t>• Relics + gold shops → different builds each run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2F0EA"/>
                </a:solidFill>
                <a:latin typeface="Calibri"/>
              </a:rPr>
              <a:t>• Route / build / resources vary → state swings hard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644</Words>
  <Application>Microsoft Office PowerPoint</Application>
  <PresentationFormat>宽屏</PresentationFormat>
  <Paragraphs>119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you</dc:creator>
  <cp:keywords/>
  <dc:description>generated using python-pptx</dc:description>
  <cp:lastModifiedBy>Shaopeng You</cp:lastModifiedBy>
  <cp:revision>3</cp:revision>
  <dcterms:created xsi:type="dcterms:W3CDTF">2013-01-27T09:14:16Z</dcterms:created>
  <dcterms:modified xsi:type="dcterms:W3CDTF">2026-08-10T14:14:46Z</dcterms:modified>
  <cp:category/>
</cp:coreProperties>
</file>